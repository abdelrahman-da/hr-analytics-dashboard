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70" r:id="rId3"/>
    <p:sldId id="259" r:id="rId4"/>
    <p:sldId id="271"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3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50" d="100"/>
          <a:sy n="150" d="100"/>
        </p:scale>
        <p:origin x="1440"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9344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D1CAA-5D8C-AAD4-8843-D34683074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B5939-D3FD-EA16-DFF2-2689804C9AA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3E07665-A1C7-0B13-DA53-51719B1ACB6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D36992E-67F3-C3F8-C158-469B788EAF4F}"/>
              </a:ext>
            </a:extLst>
          </p:cNvPr>
          <p:cNvSpPr>
            <a:spLocks noGrp="1"/>
          </p:cNvSpPr>
          <p:nvPr>
            <p:ph type="sldNum" sz="quarter" idx="5"/>
          </p:nvPr>
        </p:nvSpPr>
        <p:spPr/>
      </p:sp>
    </p:spTree>
    <p:extLst>
      <p:ext uri="{BB962C8B-B14F-4D97-AF65-F5344CB8AC3E}">
        <p14:creationId xmlns:p14="http://schemas.microsoft.com/office/powerpoint/2010/main" val="2374741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HR Analytics – Executive Overview</a:t>
            </a:r>
          </a:p>
        </p:txBody>
      </p:sp>
      <p:sp>
        <p:nvSpPr>
          <p:cNvPr id="3" name="TextBox 2"/>
          <p:cNvSpPr txBox="1"/>
          <p:nvPr/>
        </p:nvSpPr>
        <p:spPr>
          <a:xfrm>
            <a:off x="1783035" y="4090808"/>
            <a:ext cx="5577929" cy="1938992"/>
          </a:xfrm>
          <a:prstGeom prst="rect">
            <a:avLst/>
          </a:prstGeom>
          <a:noFill/>
        </p:spPr>
        <p:txBody>
          <a:bodyPr wrap="square">
            <a:spAutoFit/>
          </a:bodyPr>
          <a:lstStyle/>
          <a:p>
            <a:pPr algn="ctr">
              <a:defRPr sz="2000">
                <a:solidFill>
                  <a:srgbClr val="D2D2D2"/>
                </a:solidFill>
              </a:defRPr>
            </a:pPr>
            <a:r>
              <a:rPr lang="ar-EG" sz="2000" b="1" dirty="0"/>
              <a:t>الهدف من العرض</a:t>
            </a:r>
            <a:br>
              <a:rPr lang="ar-EG" sz="2000" b="1" dirty="0"/>
            </a:br>
            <a:r>
              <a:rPr lang="ar-EG" sz="2000" b="1" dirty="0"/>
              <a:t>يقدم هذا التحليل نظرة شاملة على القوى العاملة من حيث العدد، التكاليف، التنوع، ومعدلات الدوران الوظيفي. الهدف الأساسي هو دعم الإدارة في اتخاذ قرارات مبنية على البيانات فيما يخص التخطيط الوظيفي، ضبط التكاليف، وتقليل المخاطر المرتبطة بالاحتفاظ بالموظفين.</a:t>
            </a:r>
            <a:endParaRPr b="1" dirty="0"/>
          </a:p>
        </p:txBody>
      </p:sp>
      <p:sp>
        <p:nvSpPr>
          <p:cNvPr id="6" name="TextBox 5">
            <a:extLst>
              <a:ext uri="{FF2B5EF4-FFF2-40B4-BE49-F238E27FC236}">
                <a16:creationId xmlns:a16="http://schemas.microsoft.com/office/drawing/2014/main" id="{A8CD76AA-CE62-C361-68C1-EDB2E9DDBEF6}"/>
              </a:ext>
            </a:extLst>
          </p:cNvPr>
          <p:cNvSpPr txBox="1"/>
          <p:nvPr/>
        </p:nvSpPr>
        <p:spPr>
          <a:xfrm>
            <a:off x="1783035" y="1567109"/>
            <a:ext cx="5577929" cy="2246769"/>
          </a:xfrm>
          <a:prstGeom prst="rect">
            <a:avLst/>
          </a:prstGeom>
          <a:noFill/>
        </p:spPr>
        <p:txBody>
          <a:bodyPr wrap="square">
            <a:spAutoFit/>
          </a:bodyPr>
          <a:lstStyle/>
          <a:p>
            <a:pPr algn="ctr">
              <a:defRPr sz="2000">
                <a:solidFill>
                  <a:srgbClr val="D2D2D2"/>
                </a:solidFill>
              </a:defRPr>
            </a:pPr>
            <a:r>
              <a:rPr lang="en-US" sz="2000" b="1" dirty="0"/>
              <a:t>Purpose of This Analysis</a:t>
            </a:r>
            <a:br>
              <a:rPr lang="en-US" sz="2000" b="1" dirty="0"/>
            </a:br>
            <a:r>
              <a:rPr lang="en-US" sz="2000" b="1" dirty="0"/>
              <a:t>This presentation provides a comprehensive view of the workforce covering headcount, costs, diversity, and attrition. The objective is to support executive decision-making related to workforce planning, cost control, and employee retention risks.</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sz="2800" b="1">
                <a:solidFill>
                  <a:srgbClr val="FFFFFF"/>
                </a:solidFill>
              </a:defRPr>
            </a:pPr>
            <a:r>
              <a:rPr kumimoji="0" sz="2800" b="1" i="0" u="none" strike="noStrike" kern="1200" cap="none" spc="0" normalizeH="0" baseline="0" noProof="0" dirty="0">
                <a:ln>
                  <a:noFill/>
                </a:ln>
                <a:solidFill>
                  <a:srgbClr val="FFFFFF"/>
                </a:solidFill>
                <a:effectLst/>
                <a:uLnTx/>
                <a:uFillTx/>
                <a:latin typeface="Calibri"/>
                <a:ea typeface="+mn-ea"/>
                <a:cs typeface="+mn-cs"/>
              </a:rPr>
              <a:t>Executive KPI Snapshot</a:t>
            </a:r>
          </a:p>
        </p:txBody>
      </p:sp>
      <p:pic>
        <p:nvPicPr>
          <p:cNvPr id="10" name="Picture 9" descr="A blue rectangle with black text">
            <a:extLst>
              <a:ext uri="{FF2B5EF4-FFF2-40B4-BE49-F238E27FC236}">
                <a16:creationId xmlns:a16="http://schemas.microsoft.com/office/drawing/2014/main" id="{88F0C676-4435-CD6C-53FB-F24C13FA981E}"/>
              </a:ext>
            </a:extLst>
          </p:cNvPr>
          <p:cNvPicPr>
            <a:picLocks noChangeAspect="1"/>
          </p:cNvPicPr>
          <p:nvPr/>
        </p:nvPicPr>
        <p:blipFill>
          <a:blip r:embed="rId3"/>
          <a:stretch>
            <a:fillRect/>
          </a:stretch>
        </p:blipFill>
        <p:spPr>
          <a:xfrm>
            <a:off x="1611982" y="872355"/>
            <a:ext cx="5722595" cy="975895"/>
          </a:xfrm>
          <a:prstGeom prst="rect">
            <a:avLst/>
          </a:prstGeom>
        </p:spPr>
      </p:pic>
      <p:pic>
        <p:nvPicPr>
          <p:cNvPr id="12" name="Picture 11" descr="A blue rectangular sign with black text&#10;&#10;AI-generated content may be incorrect.">
            <a:extLst>
              <a:ext uri="{FF2B5EF4-FFF2-40B4-BE49-F238E27FC236}">
                <a16:creationId xmlns:a16="http://schemas.microsoft.com/office/drawing/2014/main" id="{5F548ACD-D9FE-2C3F-7157-616412ABEB7C}"/>
              </a:ext>
            </a:extLst>
          </p:cNvPr>
          <p:cNvPicPr>
            <a:picLocks noChangeAspect="1"/>
          </p:cNvPicPr>
          <p:nvPr/>
        </p:nvPicPr>
        <p:blipFill>
          <a:blip r:embed="rId4"/>
          <a:stretch>
            <a:fillRect/>
          </a:stretch>
        </p:blipFill>
        <p:spPr>
          <a:xfrm>
            <a:off x="1656775" y="1957829"/>
            <a:ext cx="5724144" cy="1002721"/>
          </a:xfrm>
          <a:prstGeom prst="rect">
            <a:avLst/>
          </a:prstGeom>
        </p:spPr>
      </p:pic>
      <p:sp>
        <p:nvSpPr>
          <p:cNvPr id="3" name="TextBox 2">
            <a:extLst>
              <a:ext uri="{FF2B5EF4-FFF2-40B4-BE49-F238E27FC236}">
                <a16:creationId xmlns:a16="http://schemas.microsoft.com/office/drawing/2014/main" id="{24E26482-1E02-F1D0-1D0B-156A22EC474E}"/>
              </a:ext>
            </a:extLst>
          </p:cNvPr>
          <p:cNvSpPr txBox="1"/>
          <p:nvPr/>
        </p:nvSpPr>
        <p:spPr>
          <a:xfrm>
            <a:off x="1149969" y="3378535"/>
            <a:ext cx="6844061" cy="1631216"/>
          </a:xfrm>
          <a:prstGeom prst="rect">
            <a:avLst/>
          </a:prstGeom>
          <a:noFill/>
        </p:spPr>
        <p:txBody>
          <a:bodyPr wrap="square">
            <a:spAutoFit/>
          </a:bodyPr>
          <a:lstStyle/>
          <a:p>
            <a:pPr algn="ctr">
              <a:defRPr sz="2000">
                <a:solidFill>
                  <a:srgbClr val="D2D2D2"/>
                </a:solidFill>
              </a:defRPr>
            </a:pPr>
            <a:r>
              <a:rPr lang="en-US" sz="2000" b="1" dirty="0"/>
              <a:t>Executive KPI Summary</a:t>
            </a:r>
            <a:br>
              <a:rPr lang="en-US" sz="2000" b="1" dirty="0"/>
            </a:br>
            <a:r>
              <a:rPr lang="en-US" sz="2000" b="1" dirty="0"/>
              <a:t>The key metrics highlight a sizable workforce with relatively high average salaries. Attrition, even at moderate levels, has a direct operational and financial impact, making it a critical metric for leadership monitoring.</a:t>
            </a:r>
            <a:endParaRPr b="1" dirty="0"/>
          </a:p>
        </p:txBody>
      </p:sp>
      <p:sp>
        <p:nvSpPr>
          <p:cNvPr id="4" name="TextBox 3">
            <a:extLst>
              <a:ext uri="{FF2B5EF4-FFF2-40B4-BE49-F238E27FC236}">
                <a16:creationId xmlns:a16="http://schemas.microsoft.com/office/drawing/2014/main" id="{812BEF40-6C6C-301E-65E4-543A2E5A35B8}"/>
              </a:ext>
            </a:extLst>
          </p:cNvPr>
          <p:cNvSpPr txBox="1"/>
          <p:nvPr/>
        </p:nvSpPr>
        <p:spPr>
          <a:xfrm>
            <a:off x="1149969" y="5177484"/>
            <a:ext cx="6844061" cy="1323439"/>
          </a:xfrm>
          <a:prstGeom prst="rect">
            <a:avLst/>
          </a:prstGeom>
          <a:noFill/>
        </p:spPr>
        <p:txBody>
          <a:bodyPr wrap="square">
            <a:spAutoFit/>
          </a:bodyPr>
          <a:lstStyle/>
          <a:p>
            <a:pPr algn="ctr">
              <a:defRPr sz="2000">
                <a:solidFill>
                  <a:srgbClr val="D2D2D2"/>
                </a:solidFill>
              </a:defRPr>
            </a:pPr>
            <a:r>
              <a:rPr lang="ar-EG" sz="2000" b="1" dirty="0"/>
              <a:t>الملخص التنفيذي للأداء</a:t>
            </a:r>
            <a:br>
              <a:rPr lang="ar-EG" sz="2000" b="1" dirty="0"/>
            </a:br>
            <a:r>
              <a:rPr lang="ar-EG" sz="2000" b="1" dirty="0"/>
              <a:t>الأرقام الرئيسية بتوضح إن حجم القوة العاملة كبير نسبيًا، مع متوسط رواتب مرتفع وتأثير مباشر لمعدلات الدوران الوظيفي على الاستقرار التشغيلي والتكلفة. أي تغيير بسيط في معدل الدوران أو الرواتب له تأثير مالي ملحوظ.</a:t>
            </a:r>
            <a:endParaRPr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Workforce Distribution by Department</a:t>
            </a:r>
          </a:p>
        </p:txBody>
      </p:sp>
      <p:pic>
        <p:nvPicPr>
          <p:cNvPr id="8" name="Picture 7" descr="A blue and white graph&#10;&#10;AI-generated content may be incorrect.">
            <a:extLst>
              <a:ext uri="{FF2B5EF4-FFF2-40B4-BE49-F238E27FC236}">
                <a16:creationId xmlns:a16="http://schemas.microsoft.com/office/drawing/2014/main" id="{5C6CFD10-690A-40DB-C995-62C0947B52B9}"/>
              </a:ext>
            </a:extLst>
          </p:cNvPr>
          <p:cNvPicPr>
            <a:picLocks noChangeAspect="1"/>
          </p:cNvPicPr>
          <p:nvPr/>
        </p:nvPicPr>
        <p:blipFill>
          <a:blip r:embed="rId3"/>
          <a:stretch>
            <a:fillRect/>
          </a:stretch>
        </p:blipFill>
        <p:spPr>
          <a:xfrm>
            <a:off x="1811665" y="940414"/>
            <a:ext cx="5520670" cy="2752974"/>
          </a:xfrm>
          <a:prstGeom prst="rect">
            <a:avLst/>
          </a:prstGeom>
        </p:spPr>
      </p:pic>
      <p:sp>
        <p:nvSpPr>
          <p:cNvPr id="6" name="TextBox 5">
            <a:extLst>
              <a:ext uri="{FF2B5EF4-FFF2-40B4-BE49-F238E27FC236}">
                <a16:creationId xmlns:a16="http://schemas.microsoft.com/office/drawing/2014/main" id="{1A4B40D3-17E1-1C87-0555-CC1462A6DE61}"/>
              </a:ext>
            </a:extLst>
          </p:cNvPr>
          <p:cNvSpPr txBox="1"/>
          <p:nvPr/>
        </p:nvSpPr>
        <p:spPr>
          <a:xfrm>
            <a:off x="1302369" y="3734834"/>
            <a:ext cx="6691661" cy="1631216"/>
          </a:xfrm>
          <a:prstGeom prst="rect">
            <a:avLst/>
          </a:prstGeom>
          <a:noFill/>
        </p:spPr>
        <p:txBody>
          <a:bodyPr wrap="square">
            <a:spAutoFit/>
          </a:bodyPr>
          <a:lstStyle/>
          <a:p>
            <a:pPr algn="ctr">
              <a:defRPr sz="2000">
                <a:solidFill>
                  <a:srgbClr val="D2D2D2"/>
                </a:solidFill>
              </a:defRPr>
            </a:pPr>
            <a:r>
              <a:rPr lang="en-US" sz="2000" b="1" dirty="0"/>
              <a:t>Workforce Distribution</a:t>
            </a:r>
            <a:br>
              <a:rPr lang="en-US" sz="2000" b="1" dirty="0"/>
            </a:br>
            <a:r>
              <a:rPr lang="en-US" sz="2000" b="1" dirty="0"/>
              <a:t>IT and Engineering represent the largest share of employees. This concentration increases operational risk and makes these departments critical priorities for workforce stability and planning.</a:t>
            </a:r>
            <a:endParaRPr b="1" dirty="0"/>
          </a:p>
        </p:txBody>
      </p:sp>
      <p:sp>
        <p:nvSpPr>
          <p:cNvPr id="7" name="TextBox 6">
            <a:extLst>
              <a:ext uri="{FF2B5EF4-FFF2-40B4-BE49-F238E27FC236}">
                <a16:creationId xmlns:a16="http://schemas.microsoft.com/office/drawing/2014/main" id="{E8D70F26-C01E-E5CC-C80C-24B7887B0723}"/>
              </a:ext>
            </a:extLst>
          </p:cNvPr>
          <p:cNvSpPr txBox="1"/>
          <p:nvPr/>
        </p:nvSpPr>
        <p:spPr>
          <a:xfrm>
            <a:off x="1302369" y="5430120"/>
            <a:ext cx="6844061" cy="1323439"/>
          </a:xfrm>
          <a:prstGeom prst="rect">
            <a:avLst/>
          </a:prstGeom>
          <a:noFill/>
        </p:spPr>
        <p:txBody>
          <a:bodyPr wrap="square">
            <a:spAutoFit/>
          </a:bodyPr>
          <a:lstStyle/>
          <a:p>
            <a:pPr algn="ctr" rtl="1">
              <a:defRPr sz="2000">
                <a:solidFill>
                  <a:srgbClr val="D2D2D2"/>
                </a:solidFill>
              </a:defRPr>
            </a:pPr>
            <a:r>
              <a:rPr lang="ar-EG" sz="2000" b="1" dirty="0"/>
              <a:t>توزيع القوة العاملة</a:t>
            </a:r>
            <a:br>
              <a:rPr lang="ar-EG" sz="2000" b="1" dirty="0"/>
            </a:br>
            <a:r>
              <a:rPr lang="ar-EG" sz="2000" b="1" dirty="0"/>
              <a:t>الاعتماد الأكبر في الشركة واضح في أقسام </a:t>
            </a:r>
            <a:r>
              <a:rPr lang="en-US" sz="2000" b="1" dirty="0"/>
              <a:t>IT</a:t>
            </a:r>
            <a:r>
              <a:rPr lang="ar-EG" sz="2000" b="1" dirty="0"/>
              <a:t> والهندسة. التركيز العالي للموظفين في أقسام محددة يزود المخاطر التشغيلية في حالة زيادة الاستقالات أو نقص التوظيف.</a:t>
            </a:r>
            <a:endParaRPr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a:extLst>
            <a:ext uri="{FF2B5EF4-FFF2-40B4-BE49-F238E27FC236}">
              <a16:creationId xmlns:a16="http://schemas.microsoft.com/office/drawing/2014/main" id="{8E7E2054-EAE6-52D9-685F-6230C9F86CB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59958F-66A5-38D2-2B57-15A90CF30D21}"/>
              </a:ext>
            </a:extLst>
          </p:cNvPr>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lang="en-US" sz="2800" b="1" dirty="0"/>
              <a:t>Total Salaries by Department</a:t>
            </a:r>
            <a:endParaRPr dirty="0"/>
          </a:p>
        </p:txBody>
      </p:sp>
      <p:sp>
        <p:nvSpPr>
          <p:cNvPr id="6" name="TextBox 5">
            <a:extLst>
              <a:ext uri="{FF2B5EF4-FFF2-40B4-BE49-F238E27FC236}">
                <a16:creationId xmlns:a16="http://schemas.microsoft.com/office/drawing/2014/main" id="{2518F5B4-C12F-60A9-0138-18C1401514E3}"/>
              </a:ext>
            </a:extLst>
          </p:cNvPr>
          <p:cNvSpPr txBox="1"/>
          <p:nvPr/>
        </p:nvSpPr>
        <p:spPr>
          <a:xfrm>
            <a:off x="1302369" y="3734834"/>
            <a:ext cx="6691661" cy="1631216"/>
          </a:xfrm>
          <a:prstGeom prst="rect">
            <a:avLst/>
          </a:prstGeom>
          <a:noFill/>
        </p:spPr>
        <p:txBody>
          <a:bodyPr wrap="square">
            <a:spAutoFit/>
          </a:bodyPr>
          <a:lstStyle/>
          <a:p>
            <a:pPr algn="ctr">
              <a:defRPr sz="2000">
                <a:solidFill>
                  <a:srgbClr val="D2D2D2"/>
                </a:solidFill>
              </a:defRPr>
            </a:pPr>
            <a:r>
              <a:rPr lang="en-US" sz="2000" b="1" dirty="0"/>
              <a:t>Department Salary Impact</a:t>
            </a:r>
            <a:br>
              <a:rPr lang="en-US" sz="2000" b="1" dirty="0"/>
            </a:br>
            <a:r>
              <a:rPr lang="en-US" sz="2000" b="1" dirty="0"/>
              <a:t>Departments with larger headcounts drive higher total payroll costs, even when average salaries are moderate. This insight is essential for budget allocation and cost optimization.</a:t>
            </a:r>
            <a:endParaRPr b="1" dirty="0"/>
          </a:p>
        </p:txBody>
      </p:sp>
      <p:sp>
        <p:nvSpPr>
          <p:cNvPr id="7" name="TextBox 6">
            <a:extLst>
              <a:ext uri="{FF2B5EF4-FFF2-40B4-BE49-F238E27FC236}">
                <a16:creationId xmlns:a16="http://schemas.microsoft.com/office/drawing/2014/main" id="{FA3E2838-46EA-B22E-5410-003E4F6A3E37}"/>
              </a:ext>
            </a:extLst>
          </p:cNvPr>
          <p:cNvSpPr txBox="1"/>
          <p:nvPr/>
        </p:nvSpPr>
        <p:spPr>
          <a:xfrm>
            <a:off x="1302369" y="5430120"/>
            <a:ext cx="6844061" cy="1323439"/>
          </a:xfrm>
          <a:prstGeom prst="rect">
            <a:avLst/>
          </a:prstGeom>
          <a:noFill/>
        </p:spPr>
        <p:txBody>
          <a:bodyPr wrap="square">
            <a:spAutoFit/>
          </a:bodyPr>
          <a:lstStyle/>
          <a:p>
            <a:pPr algn="ctr" rtl="1">
              <a:defRPr sz="2000">
                <a:solidFill>
                  <a:srgbClr val="D2D2D2"/>
                </a:solidFill>
              </a:defRPr>
            </a:pPr>
            <a:r>
              <a:rPr lang="ar-EG" sz="2000" b="1" dirty="0"/>
              <a:t>التكلفة الحقيقية لكل قسم</a:t>
            </a:r>
            <a:br>
              <a:rPr lang="ar-EG" sz="2000" b="1" dirty="0"/>
            </a:br>
            <a:r>
              <a:rPr lang="ar-EG" sz="2000" b="1" dirty="0"/>
              <a:t>الأقسام ذات العدد الأكبر ليست بالضرورة الأعلى من حيث متوسط الرواتب، لكن إجمالي التكلفة فيها مرتفع. ده مهم في إدارة الميزانية وتحديد أولويات ضبط التكاليف.</a:t>
            </a:r>
            <a:endParaRPr b="1" dirty="0"/>
          </a:p>
        </p:txBody>
      </p:sp>
      <p:pic>
        <p:nvPicPr>
          <p:cNvPr id="9" name="Picture 8" descr="A screenshot of a graph">
            <a:extLst>
              <a:ext uri="{FF2B5EF4-FFF2-40B4-BE49-F238E27FC236}">
                <a16:creationId xmlns:a16="http://schemas.microsoft.com/office/drawing/2014/main" id="{3218B60F-EBDA-45AE-5F8B-B8DD752181D9}"/>
              </a:ext>
            </a:extLst>
          </p:cNvPr>
          <p:cNvPicPr>
            <a:picLocks noChangeAspect="1"/>
          </p:cNvPicPr>
          <p:nvPr/>
        </p:nvPicPr>
        <p:blipFill>
          <a:blip r:embed="rId3"/>
          <a:stretch>
            <a:fillRect/>
          </a:stretch>
        </p:blipFill>
        <p:spPr>
          <a:xfrm>
            <a:off x="1841885" y="861610"/>
            <a:ext cx="5465695" cy="2762076"/>
          </a:xfrm>
          <a:prstGeom prst="rect">
            <a:avLst/>
          </a:prstGeom>
        </p:spPr>
      </p:pic>
    </p:spTree>
    <p:extLst>
      <p:ext uri="{BB962C8B-B14F-4D97-AF65-F5344CB8AC3E}">
        <p14:creationId xmlns:p14="http://schemas.microsoft.com/office/powerpoint/2010/main" val="2512536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Department × Gender Mix</a:t>
            </a:r>
          </a:p>
        </p:txBody>
      </p:sp>
      <p:pic>
        <p:nvPicPr>
          <p:cNvPr id="6" name="Picture 5" descr="A screenshot of a graph&#10;&#10;AI-generated content may be incorrect.">
            <a:extLst>
              <a:ext uri="{FF2B5EF4-FFF2-40B4-BE49-F238E27FC236}">
                <a16:creationId xmlns:a16="http://schemas.microsoft.com/office/drawing/2014/main" id="{D14D313A-BFA7-2CEF-4C08-848D8CF41C0B}"/>
              </a:ext>
            </a:extLst>
          </p:cNvPr>
          <p:cNvPicPr>
            <a:picLocks noChangeAspect="1"/>
          </p:cNvPicPr>
          <p:nvPr/>
        </p:nvPicPr>
        <p:blipFill>
          <a:blip r:embed="rId3"/>
          <a:stretch>
            <a:fillRect/>
          </a:stretch>
        </p:blipFill>
        <p:spPr>
          <a:xfrm>
            <a:off x="1937350" y="1030808"/>
            <a:ext cx="5370229" cy="2656550"/>
          </a:xfrm>
          <a:prstGeom prst="rect">
            <a:avLst/>
          </a:prstGeom>
        </p:spPr>
      </p:pic>
      <p:sp>
        <p:nvSpPr>
          <p:cNvPr id="3" name="TextBox 2">
            <a:extLst>
              <a:ext uri="{FF2B5EF4-FFF2-40B4-BE49-F238E27FC236}">
                <a16:creationId xmlns:a16="http://schemas.microsoft.com/office/drawing/2014/main" id="{802F435A-9C3B-683A-B88D-EB93EF5385B6}"/>
              </a:ext>
            </a:extLst>
          </p:cNvPr>
          <p:cNvSpPr txBox="1"/>
          <p:nvPr/>
        </p:nvSpPr>
        <p:spPr>
          <a:xfrm>
            <a:off x="1149969" y="3899258"/>
            <a:ext cx="6844061" cy="1323439"/>
          </a:xfrm>
          <a:prstGeom prst="rect">
            <a:avLst/>
          </a:prstGeom>
          <a:noFill/>
        </p:spPr>
        <p:txBody>
          <a:bodyPr wrap="square">
            <a:spAutoFit/>
          </a:bodyPr>
          <a:lstStyle/>
          <a:p>
            <a:pPr algn="ctr">
              <a:defRPr sz="2000">
                <a:solidFill>
                  <a:srgbClr val="D2D2D2"/>
                </a:solidFill>
              </a:defRPr>
            </a:pPr>
            <a:r>
              <a:rPr lang="en-US" sz="2000" b="1" dirty="0"/>
              <a:t>Gender Balance Overview</a:t>
            </a:r>
            <a:br>
              <a:rPr lang="en-US" sz="2000" b="1" dirty="0"/>
            </a:br>
            <a:r>
              <a:rPr lang="en-US" sz="2000" b="1" dirty="0"/>
              <a:t>Overall gender distribution appears balanced. However, deeper analysis by department is required to ensure equity in hiring, pay, and growth opportunities.</a:t>
            </a:r>
            <a:endParaRPr b="1" dirty="0"/>
          </a:p>
        </p:txBody>
      </p:sp>
      <p:sp>
        <p:nvSpPr>
          <p:cNvPr id="5" name="TextBox 4">
            <a:extLst>
              <a:ext uri="{FF2B5EF4-FFF2-40B4-BE49-F238E27FC236}">
                <a16:creationId xmlns:a16="http://schemas.microsoft.com/office/drawing/2014/main" id="{4C0B762D-6079-D732-9D2B-F689FD4A7D09}"/>
              </a:ext>
            </a:extLst>
          </p:cNvPr>
          <p:cNvSpPr txBox="1"/>
          <p:nvPr/>
        </p:nvSpPr>
        <p:spPr>
          <a:xfrm>
            <a:off x="1149969" y="5442114"/>
            <a:ext cx="6844061" cy="1323439"/>
          </a:xfrm>
          <a:prstGeom prst="rect">
            <a:avLst/>
          </a:prstGeom>
          <a:noFill/>
        </p:spPr>
        <p:txBody>
          <a:bodyPr wrap="square">
            <a:spAutoFit/>
          </a:bodyPr>
          <a:lstStyle/>
          <a:p>
            <a:pPr algn="ctr">
              <a:defRPr sz="2000">
                <a:solidFill>
                  <a:srgbClr val="D2D2D2"/>
                </a:solidFill>
              </a:defRPr>
            </a:pPr>
            <a:r>
              <a:rPr lang="ar-EG" sz="2000" b="1" dirty="0"/>
              <a:t>التوازن بين الجنسين</a:t>
            </a:r>
            <a:br>
              <a:rPr lang="ar-EG" sz="2000" b="1" dirty="0"/>
            </a:br>
            <a:r>
              <a:rPr lang="ar-EG" sz="2000" b="1" dirty="0"/>
              <a:t>التوزيع بين الذكور والإناث قريب من التوازن العام، لكنه يحتاج تحليل أعمق على مستوى الأقسام لضمان العدالة وعدم وجود تحيزات غير ظاهرة في التوظيف أو التعويضات.</a:t>
            </a:r>
            <a:endParaRPr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Total Salary Impact (Including Bonus)</a:t>
            </a:r>
          </a:p>
        </p:txBody>
      </p:sp>
      <p:pic>
        <p:nvPicPr>
          <p:cNvPr id="6" name="Picture 5" descr="A graph of salary and salary&#10;&#10;AI-generated content may be incorrect.">
            <a:extLst>
              <a:ext uri="{FF2B5EF4-FFF2-40B4-BE49-F238E27FC236}">
                <a16:creationId xmlns:a16="http://schemas.microsoft.com/office/drawing/2014/main" id="{E5061721-FBFE-25E0-70EE-C14400C26197}"/>
              </a:ext>
            </a:extLst>
          </p:cNvPr>
          <p:cNvPicPr>
            <a:picLocks noChangeAspect="1"/>
          </p:cNvPicPr>
          <p:nvPr/>
        </p:nvPicPr>
        <p:blipFill>
          <a:blip r:embed="rId3"/>
          <a:stretch>
            <a:fillRect/>
          </a:stretch>
        </p:blipFill>
        <p:spPr>
          <a:xfrm>
            <a:off x="2010313" y="872230"/>
            <a:ext cx="5123374" cy="3038048"/>
          </a:xfrm>
          <a:prstGeom prst="rect">
            <a:avLst/>
          </a:prstGeom>
        </p:spPr>
      </p:pic>
      <p:sp>
        <p:nvSpPr>
          <p:cNvPr id="7" name="TextBox 6">
            <a:extLst>
              <a:ext uri="{FF2B5EF4-FFF2-40B4-BE49-F238E27FC236}">
                <a16:creationId xmlns:a16="http://schemas.microsoft.com/office/drawing/2014/main" id="{D2DC22C7-9C0C-B394-1266-B45510D8F97D}"/>
              </a:ext>
            </a:extLst>
          </p:cNvPr>
          <p:cNvSpPr txBox="1"/>
          <p:nvPr/>
        </p:nvSpPr>
        <p:spPr>
          <a:xfrm>
            <a:off x="1149968" y="5442114"/>
            <a:ext cx="6844061" cy="1015663"/>
          </a:xfrm>
          <a:prstGeom prst="rect">
            <a:avLst/>
          </a:prstGeom>
          <a:noFill/>
        </p:spPr>
        <p:txBody>
          <a:bodyPr wrap="square">
            <a:spAutoFit/>
          </a:bodyPr>
          <a:lstStyle/>
          <a:p>
            <a:pPr algn="ctr">
              <a:defRPr sz="2000">
                <a:solidFill>
                  <a:srgbClr val="D2D2D2"/>
                </a:solidFill>
              </a:defRPr>
            </a:pPr>
            <a:r>
              <a:rPr lang="ar-EG" sz="2000" b="1" dirty="0"/>
              <a:t>تأثير المكافآت</a:t>
            </a:r>
            <a:br>
              <a:rPr lang="ar-EG" sz="2000" b="1" dirty="0"/>
            </a:br>
            <a:r>
              <a:rPr lang="ar-EG" sz="2000" b="1" dirty="0"/>
              <a:t>المكافآت بتزود التكلفة الإجمالية بشكل ملحوظ، لكن التأثير بيختلف من قسم للتاني. غياب إطار واضح للمكافآت ممكن يخلق ضغط مالي غير متوقع.</a:t>
            </a:r>
            <a:endParaRPr b="1" dirty="0"/>
          </a:p>
        </p:txBody>
      </p:sp>
      <p:sp>
        <p:nvSpPr>
          <p:cNvPr id="8" name="TextBox 7">
            <a:extLst>
              <a:ext uri="{FF2B5EF4-FFF2-40B4-BE49-F238E27FC236}">
                <a16:creationId xmlns:a16="http://schemas.microsoft.com/office/drawing/2014/main" id="{8611ADB8-5D22-D5F8-8F68-81B07703AE3E}"/>
              </a:ext>
            </a:extLst>
          </p:cNvPr>
          <p:cNvSpPr txBox="1"/>
          <p:nvPr/>
        </p:nvSpPr>
        <p:spPr>
          <a:xfrm>
            <a:off x="1149969" y="4014476"/>
            <a:ext cx="6844061" cy="1323439"/>
          </a:xfrm>
          <a:prstGeom prst="rect">
            <a:avLst/>
          </a:prstGeom>
          <a:noFill/>
        </p:spPr>
        <p:txBody>
          <a:bodyPr wrap="square">
            <a:spAutoFit/>
          </a:bodyPr>
          <a:lstStyle/>
          <a:p>
            <a:pPr algn="ctr">
              <a:defRPr sz="2000">
                <a:solidFill>
                  <a:srgbClr val="D2D2D2"/>
                </a:solidFill>
              </a:defRPr>
            </a:pPr>
            <a:r>
              <a:rPr lang="en-US" sz="2000" b="1" dirty="0"/>
              <a:t>Bonus Impact on Payroll</a:t>
            </a:r>
            <a:br>
              <a:rPr lang="en-US" sz="2000" b="1" dirty="0"/>
            </a:br>
            <a:r>
              <a:rPr lang="en-US" sz="2000" b="1" dirty="0"/>
              <a:t>Bonuses significantly increase total payroll costs, with varying impact across departments. This highlights the need for structured bonus governance.</a:t>
            </a:r>
            <a:endParaRPr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Average Bonus % by Department &amp; Gender</a:t>
            </a:r>
          </a:p>
        </p:txBody>
      </p:sp>
      <p:pic>
        <p:nvPicPr>
          <p:cNvPr id="8" name="Picture 7" descr="A screenshot of a graph">
            <a:extLst>
              <a:ext uri="{FF2B5EF4-FFF2-40B4-BE49-F238E27FC236}">
                <a16:creationId xmlns:a16="http://schemas.microsoft.com/office/drawing/2014/main" id="{E97DD62D-ACCF-1208-CE19-724E3FC326E3}"/>
              </a:ext>
            </a:extLst>
          </p:cNvPr>
          <p:cNvPicPr>
            <a:picLocks noChangeAspect="1"/>
          </p:cNvPicPr>
          <p:nvPr/>
        </p:nvPicPr>
        <p:blipFill>
          <a:blip r:embed="rId3"/>
          <a:stretch>
            <a:fillRect/>
          </a:stretch>
        </p:blipFill>
        <p:spPr>
          <a:xfrm>
            <a:off x="2204140" y="1041167"/>
            <a:ext cx="4735720" cy="2823823"/>
          </a:xfrm>
          <a:prstGeom prst="rect">
            <a:avLst/>
          </a:prstGeom>
        </p:spPr>
      </p:pic>
      <p:sp>
        <p:nvSpPr>
          <p:cNvPr id="4" name="TextBox 3">
            <a:extLst>
              <a:ext uri="{FF2B5EF4-FFF2-40B4-BE49-F238E27FC236}">
                <a16:creationId xmlns:a16="http://schemas.microsoft.com/office/drawing/2014/main" id="{CCB8A8EF-F87A-449C-981B-B47DD1BC5311}"/>
              </a:ext>
            </a:extLst>
          </p:cNvPr>
          <p:cNvSpPr txBox="1"/>
          <p:nvPr/>
        </p:nvSpPr>
        <p:spPr>
          <a:xfrm>
            <a:off x="1149969" y="3968949"/>
            <a:ext cx="6844061" cy="1323439"/>
          </a:xfrm>
          <a:prstGeom prst="rect">
            <a:avLst/>
          </a:prstGeom>
          <a:noFill/>
        </p:spPr>
        <p:txBody>
          <a:bodyPr wrap="square">
            <a:spAutoFit/>
          </a:bodyPr>
          <a:lstStyle/>
          <a:p>
            <a:pPr algn="ctr">
              <a:defRPr sz="2000">
                <a:solidFill>
                  <a:srgbClr val="D2D2D2"/>
                </a:solidFill>
              </a:defRPr>
            </a:pPr>
            <a:r>
              <a:rPr lang="en-US" sz="2000" b="1" dirty="0"/>
              <a:t>Bonus Fairness Insight</a:t>
            </a:r>
            <a:br>
              <a:rPr lang="en-US" sz="2000" b="1" dirty="0"/>
            </a:br>
            <a:r>
              <a:rPr lang="en-US" sz="2000" b="1" dirty="0"/>
              <a:t>Variations in bonus percentages across genders within the same department may create fairness perception risks, even if performance-driven.</a:t>
            </a:r>
            <a:endParaRPr b="1" dirty="0"/>
          </a:p>
        </p:txBody>
      </p:sp>
      <p:sp>
        <p:nvSpPr>
          <p:cNvPr id="5" name="TextBox 4">
            <a:extLst>
              <a:ext uri="{FF2B5EF4-FFF2-40B4-BE49-F238E27FC236}">
                <a16:creationId xmlns:a16="http://schemas.microsoft.com/office/drawing/2014/main" id="{6993C264-75DE-489A-8A27-7074CF067CD8}"/>
              </a:ext>
            </a:extLst>
          </p:cNvPr>
          <p:cNvSpPr txBox="1"/>
          <p:nvPr/>
        </p:nvSpPr>
        <p:spPr>
          <a:xfrm>
            <a:off x="1149969" y="5337915"/>
            <a:ext cx="6844061" cy="1015663"/>
          </a:xfrm>
          <a:prstGeom prst="rect">
            <a:avLst/>
          </a:prstGeom>
          <a:noFill/>
        </p:spPr>
        <p:txBody>
          <a:bodyPr wrap="square">
            <a:spAutoFit/>
          </a:bodyPr>
          <a:lstStyle/>
          <a:p>
            <a:pPr algn="ctr">
              <a:defRPr sz="2000">
                <a:solidFill>
                  <a:srgbClr val="D2D2D2"/>
                </a:solidFill>
              </a:defRPr>
            </a:pPr>
            <a:r>
              <a:rPr lang="ar-EG" sz="2000" b="1" dirty="0"/>
              <a:t>عدالة المكافآت</a:t>
            </a:r>
            <a:br>
              <a:rPr lang="ar-EG" sz="2000" b="1" dirty="0"/>
            </a:br>
            <a:r>
              <a:rPr lang="ar-EG" sz="2000" b="1" dirty="0"/>
              <a:t>وجود اختلافات في نسب المكافآت بين الجنسين داخل نفس القسم ممكن يخلق مخاطر إدراكية تتعلق بالعدالة، حتى لو كانت مبررة وظيفيًا.</a:t>
            </a:r>
            <a:endParaRPr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Top 10 Employees by Salary</a:t>
            </a:r>
          </a:p>
        </p:txBody>
      </p:sp>
      <p:pic>
        <p:nvPicPr>
          <p:cNvPr id="6" name="Picture 5" descr="A screenshot of a computer">
            <a:extLst>
              <a:ext uri="{FF2B5EF4-FFF2-40B4-BE49-F238E27FC236}">
                <a16:creationId xmlns:a16="http://schemas.microsoft.com/office/drawing/2014/main" id="{FCED8BE9-60E5-C590-3B33-158EA1A6538F}"/>
              </a:ext>
            </a:extLst>
          </p:cNvPr>
          <p:cNvPicPr>
            <a:picLocks noChangeAspect="1"/>
          </p:cNvPicPr>
          <p:nvPr/>
        </p:nvPicPr>
        <p:blipFill>
          <a:blip r:embed="rId3"/>
          <a:stretch>
            <a:fillRect/>
          </a:stretch>
        </p:blipFill>
        <p:spPr>
          <a:xfrm>
            <a:off x="2153831" y="1053060"/>
            <a:ext cx="4836336" cy="2816976"/>
          </a:xfrm>
          <a:prstGeom prst="rect">
            <a:avLst/>
          </a:prstGeom>
        </p:spPr>
      </p:pic>
      <p:sp>
        <p:nvSpPr>
          <p:cNvPr id="5" name="TextBox 4">
            <a:extLst>
              <a:ext uri="{FF2B5EF4-FFF2-40B4-BE49-F238E27FC236}">
                <a16:creationId xmlns:a16="http://schemas.microsoft.com/office/drawing/2014/main" id="{3E9A48AB-3701-470C-973A-CC2FE22599E6}"/>
              </a:ext>
            </a:extLst>
          </p:cNvPr>
          <p:cNvSpPr txBox="1"/>
          <p:nvPr/>
        </p:nvSpPr>
        <p:spPr>
          <a:xfrm>
            <a:off x="1149968" y="4004278"/>
            <a:ext cx="6844061" cy="1323439"/>
          </a:xfrm>
          <a:prstGeom prst="rect">
            <a:avLst/>
          </a:prstGeom>
          <a:noFill/>
        </p:spPr>
        <p:txBody>
          <a:bodyPr wrap="square">
            <a:spAutoFit/>
          </a:bodyPr>
          <a:lstStyle/>
          <a:p>
            <a:pPr algn="ctr">
              <a:defRPr sz="2000">
                <a:solidFill>
                  <a:srgbClr val="D2D2D2"/>
                </a:solidFill>
              </a:defRPr>
            </a:pPr>
            <a:r>
              <a:rPr lang="en-US" sz="2000" b="1" dirty="0"/>
              <a:t>Salary Concentration Risk</a:t>
            </a:r>
            <a:br>
              <a:rPr lang="en-US" sz="2000" b="1" dirty="0"/>
            </a:br>
            <a:r>
              <a:rPr lang="en-US" sz="2000" b="1" dirty="0"/>
              <a:t>High salary concentration among a small group of employees increases dependency risk and raises replacement and knowledge-loss costs.</a:t>
            </a:r>
            <a:endParaRPr b="1" dirty="0"/>
          </a:p>
        </p:txBody>
      </p:sp>
      <p:sp>
        <p:nvSpPr>
          <p:cNvPr id="7" name="TextBox 6">
            <a:extLst>
              <a:ext uri="{FF2B5EF4-FFF2-40B4-BE49-F238E27FC236}">
                <a16:creationId xmlns:a16="http://schemas.microsoft.com/office/drawing/2014/main" id="{60F2E3F2-EA4E-47BD-8175-4B825C9AB213}"/>
              </a:ext>
            </a:extLst>
          </p:cNvPr>
          <p:cNvSpPr txBox="1"/>
          <p:nvPr/>
        </p:nvSpPr>
        <p:spPr>
          <a:xfrm>
            <a:off x="1149969" y="5297108"/>
            <a:ext cx="6844061" cy="1015663"/>
          </a:xfrm>
          <a:prstGeom prst="rect">
            <a:avLst/>
          </a:prstGeom>
          <a:noFill/>
        </p:spPr>
        <p:txBody>
          <a:bodyPr wrap="square">
            <a:spAutoFit/>
          </a:bodyPr>
          <a:lstStyle/>
          <a:p>
            <a:pPr algn="ctr">
              <a:defRPr sz="2000">
                <a:solidFill>
                  <a:srgbClr val="D2D2D2"/>
                </a:solidFill>
              </a:defRPr>
            </a:pPr>
            <a:r>
              <a:rPr lang="ar-EG" sz="2000" b="1" dirty="0"/>
              <a:t>مخاطر التركيز الوظيفي</a:t>
            </a:r>
            <a:br>
              <a:rPr lang="ar-EG" sz="2000" b="1" dirty="0"/>
            </a:br>
            <a:r>
              <a:rPr lang="ar-EG" sz="2000" b="1" dirty="0"/>
              <a:t>ارتفاع الرواتب لعدد محدود من الأفراد بيزود مخاطر الاعتماد الزائد عليهم. فقدان أي عنصر منهم ممكن يسبب خسارة معرفية وتكلفة استبدال عالية.</a:t>
            </a:r>
            <a:endParaRPr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Employee Age Distribution</a:t>
            </a:r>
          </a:p>
        </p:txBody>
      </p:sp>
      <p:pic>
        <p:nvPicPr>
          <p:cNvPr id="6" name="Picture 5" descr="A graph of numbers and a number of people&#10;&#10;AI-generated content may be incorrect.">
            <a:extLst>
              <a:ext uri="{FF2B5EF4-FFF2-40B4-BE49-F238E27FC236}">
                <a16:creationId xmlns:a16="http://schemas.microsoft.com/office/drawing/2014/main" id="{A9DFB9C4-CC3D-D49A-B76E-FC79EA67327A}"/>
              </a:ext>
            </a:extLst>
          </p:cNvPr>
          <p:cNvPicPr>
            <a:picLocks noChangeAspect="1"/>
          </p:cNvPicPr>
          <p:nvPr/>
        </p:nvPicPr>
        <p:blipFill>
          <a:blip r:embed="rId3"/>
          <a:stretch>
            <a:fillRect/>
          </a:stretch>
        </p:blipFill>
        <p:spPr>
          <a:xfrm>
            <a:off x="2097859" y="983314"/>
            <a:ext cx="4948279" cy="2898734"/>
          </a:xfrm>
          <a:prstGeom prst="rect">
            <a:avLst/>
          </a:prstGeom>
        </p:spPr>
      </p:pic>
      <p:sp>
        <p:nvSpPr>
          <p:cNvPr id="5" name="TextBox 4">
            <a:extLst>
              <a:ext uri="{FF2B5EF4-FFF2-40B4-BE49-F238E27FC236}">
                <a16:creationId xmlns:a16="http://schemas.microsoft.com/office/drawing/2014/main" id="{9A300782-CBBA-474A-8613-22EB4FD4B215}"/>
              </a:ext>
            </a:extLst>
          </p:cNvPr>
          <p:cNvSpPr txBox="1"/>
          <p:nvPr/>
        </p:nvSpPr>
        <p:spPr>
          <a:xfrm>
            <a:off x="1149969" y="4239463"/>
            <a:ext cx="6844061" cy="1323439"/>
          </a:xfrm>
          <a:prstGeom prst="rect">
            <a:avLst/>
          </a:prstGeom>
          <a:noFill/>
        </p:spPr>
        <p:txBody>
          <a:bodyPr wrap="square">
            <a:spAutoFit/>
          </a:bodyPr>
          <a:lstStyle/>
          <a:p>
            <a:pPr algn="ctr">
              <a:defRPr sz="2000">
                <a:solidFill>
                  <a:srgbClr val="D2D2D2"/>
                </a:solidFill>
              </a:defRPr>
            </a:pPr>
            <a:r>
              <a:rPr lang="en-US" sz="2000" b="1" dirty="0"/>
              <a:t>Age Structure Insight</a:t>
            </a:r>
            <a:br>
              <a:rPr lang="en-US" sz="2000" b="1" dirty="0"/>
            </a:br>
            <a:r>
              <a:rPr lang="en-US" sz="2000" b="1" dirty="0"/>
              <a:t>An experienced workforce adds stability but also signals the need for succession planning and knowledge transfer strategies.</a:t>
            </a:r>
            <a:endParaRPr b="1" dirty="0"/>
          </a:p>
        </p:txBody>
      </p:sp>
      <p:sp>
        <p:nvSpPr>
          <p:cNvPr id="7" name="TextBox 6">
            <a:extLst>
              <a:ext uri="{FF2B5EF4-FFF2-40B4-BE49-F238E27FC236}">
                <a16:creationId xmlns:a16="http://schemas.microsoft.com/office/drawing/2014/main" id="{CF6D3FA0-3963-4F8D-9655-294CC2981423}"/>
              </a:ext>
            </a:extLst>
          </p:cNvPr>
          <p:cNvSpPr txBox="1"/>
          <p:nvPr/>
        </p:nvSpPr>
        <p:spPr>
          <a:xfrm>
            <a:off x="1149969" y="5513281"/>
            <a:ext cx="6844061" cy="1015663"/>
          </a:xfrm>
          <a:prstGeom prst="rect">
            <a:avLst/>
          </a:prstGeom>
          <a:noFill/>
        </p:spPr>
        <p:txBody>
          <a:bodyPr wrap="square">
            <a:spAutoFit/>
          </a:bodyPr>
          <a:lstStyle/>
          <a:p>
            <a:pPr algn="ctr">
              <a:defRPr sz="2000">
                <a:solidFill>
                  <a:srgbClr val="D2D2D2"/>
                </a:solidFill>
              </a:defRPr>
            </a:pPr>
            <a:r>
              <a:rPr lang="ar-EG" sz="2000" b="1" dirty="0"/>
              <a:t>التركيبة العمرية</a:t>
            </a:r>
            <a:br>
              <a:rPr lang="ar-EG" sz="2000" b="1" dirty="0"/>
            </a:br>
            <a:r>
              <a:rPr lang="ar-EG" sz="2000" b="1" dirty="0"/>
              <a:t>ارتفاع نسبة الموظفين الأكبر سنًا مؤشر إيجابي للخبرة، لكنه في نفس الوقت يفرض ضرورة التخطيط للإحلال الوظيفي ونقل المعرفة.</a:t>
            </a:r>
            <a:endParaRPr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Attrition Rate by Department</a:t>
            </a:r>
          </a:p>
        </p:txBody>
      </p:sp>
      <p:pic>
        <p:nvPicPr>
          <p:cNvPr id="6" name="Picture 5" descr="A blue and white graph with text">
            <a:extLst>
              <a:ext uri="{FF2B5EF4-FFF2-40B4-BE49-F238E27FC236}">
                <a16:creationId xmlns:a16="http://schemas.microsoft.com/office/drawing/2014/main" id="{CCC53A8D-2AB9-EDEB-C23D-F3268941F935}"/>
              </a:ext>
            </a:extLst>
          </p:cNvPr>
          <p:cNvPicPr>
            <a:picLocks noChangeAspect="1"/>
          </p:cNvPicPr>
          <p:nvPr/>
        </p:nvPicPr>
        <p:blipFill>
          <a:blip r:embed="rId3"/>
          <a:stretch>
            <a:fillRect/>
          </a:stretch>
        </p:blipFill>
        <p:spPr>
          <a:xfrm>
            <a:off x="2390431" y="1031576"/>
            <a:ext cx="4363136" cy="2576655"/>
          </a:xfrm>
          <a:prstGeom prst="rect">
            <a:avLst/>
          </a:prstGeom>
        </p:spPr>
      </p:pic>
      <p:sp>
        <p:nvSpPr>
          <p:cNvPr id="5" name="TextBox 4">
            <a:extLst>
              <a:ext uri="{FF2B5EF4-FFF2-40B4-BE49-F238E27FC236}">
                <a16:creationId xmlns:a16="http://schemas.microsoft.com/office/drawing/2014/main" id="{F01EC115-71D9-4F0A-87A9-B5C964B40DC3}"/>
              </a:ext>
            </a:extLst>
          </p:cNvPr>
          <p:cNvSpPr txBox="1"/>
          <p:nvPr/>
        </p:nvSpPr>
        <p:spPr>
          <a:xfrm>
            <a:off x="1085313" y="3874237"/>
            <a:ext cx="6844061" cy="1323439"/>
          </a:xfrm>
          <a:prstGeom prst="rect">
            <a:avLst/>
          </a:prstGeom>
          <a:noFill/>
        </p:spPr>
        <p:txBody>
          <a:bodyPr wrap="square">
            <a:spAutoFit/>
          </a:bodyPr>
          <a:lstStyle/>
          <a:p>
            <a:pPr algn="ctr">
              <a:defRPr sz="2000">
                <a:solidFill>
                  <a:srgbClr val="D2D2D2"/>
                </a:solidFill>
              </a:defRPr>
            </a:pPr>
            <a:r>
              <a:rPr lang="en-US" b="1" i="0" dirty="0">
                <a:effectLst/>
                <a:latin typeface="gg sans"/>
              </a:rPr>
              <a:t>Department Attrition</a:t>
            </a:r>
            <a:r>
              <a:rPr lang="ar-EG" b="1" i="0" dirty="0">
                <a:effectLst/>
                <a:latin typeface="gg sans"/>
              </a:rPr>
              <a:t> </a:t>
            </a:r>
            <a:r>
              <a:rPr lang="en-US" b="1" i="0" dirty="0">
                <a:effectLst/>
                <a:latin typeface="gg sans"/>
              </a:rPr>
              <a:t>Risk </a:t>
            </a:r>
            <a:endParaRPr lang="ar-EG" b="1" i="0" dirty="0">
              <a:effectLst/>
              <a:latin typeface="gg sans"/>
            </a:endParaRPr>
          </a:p>
          <a:p>
            <a:pPr algn="ctr">
              <a:defRPr sz="2000">
                <a:solidFill>
                  <a:srgbClr val="D2D2D2"/>
                </a:solidFill>
              </a:defRPr>
            </a:pPr>
            <a:r>
              <a:rPr lang="en-US" b="1" i="0" dirty="0">
                <a:effectLst/>
                <a:latin typeface="gg sans"/>
              </a:rPr>
              <a:t>Higher attrition in certain departments signals potential issues in engagement, workload, or career development that require targeted action..</a:t>
            </a:r>
            <a:endParaRPr b="1" dirty="0"/>
          </a:p>
        </p:txBody>
      </p:sp>
      <p:sp>
        <p:nvSpPr>
          <p:cNvPr id="7" name="TextBox 6">
            <a:extLst>
              <a:ext uri="{FF2B5EF4-FFF2-40B4-BE49-F238E27FC236}">
                <a16:creationId xmlns:a16="http://schemas.microsoft.com/office/drawing/2014/main" id="{875313C2-9C9B-4ED2-B853-5AB37A4E9B33}"/>
              </a:ext>
            </a:extLst>
          </p:cNvPr>
          <p:cNvSpPr txBox="1"/>
          <p:nvPr/>
        </p:nvSpPr>
        <p:spPr>
          <a:xfrm>
            <a:off x="1085313" y="5338563"/>
            <a:ext cx="6844061" cy="1323439"/>
          </a:xfrm>
          <a:prstGeom prst="rect">
            <a:avLst/>
          </a:prstGeom>
          <a:noFill/>
        </p:spPr>
        <p:txBody>
          <a:bodyPr wrap="square">
            <a:spAutoFit/>
          </a:bodyPr>
          <a:lstStyle/>
          <a:p>
            <a:pPr algn="ctr">
              <a:defRPr sz="2000">
                <a:solidFill>
                  <a:srgbClr val="D2D2D2"/>
                </a:solidFill>
              </a:defRPr>
            </a:pPr>
            <a:r>
              <a:rPr lang="ar-EG" b="1" i="0" dirty="0">
                <a:effectLst/>
                <a:latin typeface="gg sans"/>
              </a:rPr>
              <a:t>مخاطر الدوران الوظيفي</a:t>
            </a:r>
          </a:p>
          <a:p>
            <a:pPr algn="ctr">
              <a:defRPr sz="2000">
                <a:solidFill>
                  <a:srgbClr val="D2D2D2"/>
                </a:solidFill>
              </a:defRPr>
            </a:pPr>
            <a:r>
              <a:rPr lang="ar-EG" b="1" i="0" dirty="0">
                <a:effectLst/>
                <a:latin typeface="gg sans"/>
              </a:rPr>
              <a:t> بعض الأقسام بتعاني من معدلات استقالات أعلى، وده مؤشر على تحديات محتملة في بيئة العمل أو المسار الوظيفي. </a:t>
            </a:r>
            <a:br>
              <a:rPr lang="ar-EG" b="1" dirty="0"/>
            </a:br>
            <a:endParaRPr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Attrition Rate by Age Group</a:t>
            </a:r>
          </a:p>
        </p:txBody>
      </p:sp>
      <p:pic>
        <p:nvPicPr>
          <p:cNvPr id="6" name="Picture 5" descr="A graph with numbers and text">
            <a:extLst>
              <a:ext uri="{FF2B5EF4-FFF2-40B4-BE49-F238E27FC236}">
                <a16:creationId xmlns:a16="http://schemas.microsoft.com/office/drawing/2014/main" id="{ACCA0EA9-9619-ADCA-60B7-D5F029EB4C03}"/>
              </a:ext>
            </a:extLst>
          </p:cNvPr>
          <p:cNvPicPr>
            <a:picLocks noChangeAspect="1"/>
          </p:cNvPicPr>
          <p:nvPr/>
        </p:nvPicPr>
        <p:blipFill>
          <a:blip r:embed="rId3"/>
          <a:stretch>
            <a:fillRect/>
          </a:stretch>
        </p:blipFill>
        <p:spPr>
          <a:xfrm>
            <a:off x="2332883" y="958735"/>
            <a:ext cx="4478228" cy="2656175"/>
          </a:xfrm>
          <a:prstGeom prst="rect">
            <a:avLst/>
          </a:prstGeom>
        </p:spPr>
      </p:pic>
      <p:sp>
        <p:nvSpPr>
          <p:cNvPr id="5" name="TextBox 4">
            <a:extLst>
              <a:ext uri="{FF2B5EF4-FFF2-40B4-BE49-F238E27FC236}">
                <a16:creationId xmlns:a16="http://schemas.microsoft.com/office/drawing/2014/main" id="{9BAA5CA8-3A59-41CE-A3D9-21E79166340A}"/>
              </a:ext>
            </a:extLst>
          </p:cNvPr>
          <p:cNvSpPr txBox="1"/>
          <p:nvPr/>
        </p:nvSpPr>
        <p:spPr>
          <a:xfrm>
            <a:off x="1149968" y="3934334"/>
            <a:ext cx="6844061" cy="1015663"/>
          </a:xfrm>
          <a:prstGeom prst="rect">
            <a:avLst/>
          </a:prstGeom>
          <a:noFill/>
        </p:spPr>
        <p:txBody>
          <a:bodyPr wrap="square">
            <a:spAutoFit/>
          </a:bodyPr>
          <a:lstStyle/>
          <a:p>
            <a:pPr algn="ctr">
              <a:defRPr sz="2000">
                <a:solidFill>
                  <a:srgbClr val="D2D2D2"/>
                </a:solidFill>
              </a:defRPr>
            </a:pPr>
            <a:r>
              <a:rPr lang="en-US" b="1" i="0" dirty="0">
                <a:effectLst/>
                <a:latin typeface="gg sans"/>
              </a:rPr>
              <a:t>Early-Career Attrition</a:t>
            </a:r>
            <a:endParaRPr lang="ar-EG" b="1" i="0" dirty="0">
              <a:effectLst/>
              <a:latin typeface="gg sans"/>
            </a:endParaRPr>
          </a:p>
          <a:p>
            <a:pPr algn="ctr">
              <a:defRPr sz="2000">
                <a:solidFill>
                  <a:srgbClr val="D2D2D2"/>
                </a:solidFill>
              </a:defRPr>
            </a:pPr>
            <a:r>
              <a:rPr lang="en-US" b="1" i="0" dirty="0">
                <a:effectLst/>
                <a:latin typeface="gg sans"/>
              </a:rPr>
              <a:t>Higher attrition among younger employees points to onboarding, engagement, and career clarity challenges.</a:t>
            </a:r>
            <a:endParaRPr b="1" dirty="0"/>
          </a:p>
        </p:txBody>
      </p:sp>
      <p:sp>
        <p:nvSpPr>
          <p:cNvPr id="7" name="TextBox 6">
            <a:extLst>
              <a:ext uri="{FF2B5EF4-FFF2-40B4-BE49-F238E27FC236}">
                <a16:creationId xmlns:a16="http://schemas.microsoft.com/office/drawing/2014/main" id="{9B183E39-A49B-4A11-AADB-DE59A5895656}"/>
              </a:ext>
            </a:extLst>
          </p:cNvPr>
          <p:cNvSpPr txBox="1"/>
          <p:nvPr/>
        </p:nvSpPr>
        <p:spPr>
          <a:xfrm>
            <a:off x="1149968" y="5269422"/>
            <a:ext cx="6844061" cy="1323439"/>
          </a:xfrm>
          <a:prstGeom prst="rect">
            <a:avLst/>
          </a:prstGeom>
          <a:noFill/>
        </p:spPr>
        <p:txBody>
          <a:bodyPr wrap="square">
            <a:spAutoFit/>
          </a:bodyPr>
          <a:lstStyle/>
          <a:p>
            <a:pPr algn="ctr">
              <a:defRPr sz="2000">
                <a:solidFill>
                  <a:srgbClr val="D2D2D2"/>
                </a:solidFill>
              </a:defRPr>
            </a:pPr>
            <a:r>
              <a:rPr lang="ar-EG" b="1" i="0" dirty="0">
                <a:effectLst/>
                <a:latin typeface="gg sans"/>
              </a:rPr>
              <a:t>الاستقالات المبكرة</a:t>
            </a:r>
            <a:br>
              <a:rPr lang="ar-EG" b="1" i="0" dirty="0">
                <a:effectLst/>
                <a:latin typeface="gg sans"/>
              </a:rPr>
            </a:br>
            <a:r>
              <a:rPr lang="ar-EG" b="1" i="0" dirty="0">
                <a:effectLst/>
                <a:latin typeface="gg sans"/>
              </a:rPr>
              <a:t>الموظفون الأصغر سنًا أكثر عرضة للاستقالة، وغالبًا مرتبط بضعف الاندماج الوظيفي أو غموض المسار المهني. </a:t>
            </a:r>
            <a:br>
              <a:rPr lang="ar-EG" b="1" dirty="0"/>
            </a:br>
            <a:endParaRPr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Key Problems Identified</a:t>
            </a:r>
          </a:p>
        </p:txBody>
      </p:sp>
      <p:sp>
        <p:nvSpPr>
          <p:cNvPr id="4" name="TextBox 3">
            <a:extLst>
              <a:ext uri="{FF2B5EF4-FFF2-40B4-BE49-F238E27FC236}">
                <a16:creationId xmlns:a16="http://schemas.microsoft.com/office/drawing/2014/main" id="{AEDFB8A2-8F6B-43A5-AE92-95DFEA3F1669}"/>
              </a:ext>
            </a:extLst>
          </p:cNvPr>
          <p:cNvSpPr txBox="1"/>
          <p:nvPr/>
        </p:nvSpPr>
        <p:spPr>
          <a:xfrm>
            <a:off x="1149968" y="1387247"/>
            <a:ext cx="6844061" cy="1692771"/>
          </a:xfrm>
          <a:prstGeom prst="rect">
            <a:avLst/>
          </a:prstGeom>
          <a:noFill/>
        </p:spPr>
        <p:txBody>
          <a:bodyPr wrap="square">
            <a:spAutoFit/>
          </a:bodyPr>
          <a:lstStyle/>
          <a:p>
            <a:pPr algn="ctr">
              <a:defRPr sz="2000">
                <a:solidFill>
                  <a:srgbClr val="D2D2D2"/>
                </a:solidFill>
              </a:defRPr>
            </a:pPr>
            <a:r>
              <a:rPr lang="en-US" sz="2400" b="1" i="0" u="sng" dirty="0">
                <a:effectLst/>
                <a:latin typeface="gg sans"/>
              </a:rPr>
              <a:t>Key </a:t>
            </a:r>
            <a:r>
              <a:rPr lang="en-US" sz="2400" b="1" u="sng" dirty="0"/>
              <a:t>Problems</a:t>
            </a:r>
            <a:r>
              <a:rPr lang="en-US" sz="2400" b="1" i="0" u="sng" dirty="0">
                <a:effectLst/>
                <a:latin typeface="gg sans"/>
              </a:rPr>
              <a:t> </a:t>
            </a:r>
            <a:endParaRPr lang="ar-EG" sz="2400" b="1" i="0" u="sng"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Workforce concentration in critical departments</a:t>
            </a:r>
            <a:endParaRPr lang="ar-EG" b="1" dirty="0">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Compensation and bonus equity concerns </a:t>
            </a:r>
            <a:endParaRPr lang="ar-EG" b="1" dirty="0">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Aging workforce risk </a:t>
            </a:r>
            <a:endParaRPr lang="ar-EG" b="1" dirty="0">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High dependency on top-paid employees</a:t>
            </a:r>
            <a:endParaRPr b="1" dirty="0"/>
          </a:p>
        </p:txBody>
      </p:sp>
      <p:sp>
        <p:nvSpPr>
          <p:cNvPr id="5" name="TextBox 4">
            <a:extLst>
              <a:ext uri="{FF2B5EF4-FFF2-40B4-BE49-F238E27FC236}">
                <a16:creationId xmlns:a16="http://schemas.microsoft.com/office/drawing/2014/main" id="{E7ED1E74-FB01-492F-A05A-E71C1122BD56}"/>
              </a:ext>
            </a:extLst>
          </p:cNvPr>
          <p:cNvSpPr txBox="1"/>
          <p:nvPr/>
        </p:nvSpPr>
        <p:spPr>
          <a:xfrm>
            <a:off x="1149969" y="3608171"/>
            <a:ext cx="6844061" cy="1692771"/>
          </a:xfrm>
          <a:prstGeom prst="rect">
            <a:avLst/>
          </a:prstGeom>
          <a:noFill/>
        </p:spPr>
        <p:txBody>
          <a:bodyPr wrap="square">
            <a:spAutoFit/>
          </a:bodyPr>
          <a:lstStyle/>
          <a:p>
            <a:pPr algn="ctr" rtl="1">
              <a:defRPr sz="2000">
                <a:solidFill>
                  <a:srgbClr val="D2D2D2"/>
                </a:solidFill>
              </a:defRPr>
            </a:pPr>
            <a:r>
              <a:rPr lang="ar-EG" sz="2400" b="1" i="0" u="sng" dirty="0">
                <a:effectLst/>
                <a:latin typeface="gg sans"/>
              </a:rPr>
              <a:t>أهم المشاكل</a:t>
            </a:r>
          </a:p>
          <a:p>
            <a:pPr marL="342900" indent="-342900" algn="r" rtl="1">
              <a:buFont typeface="Arial" panose="020B0604020202020204" pitchFamily="34" charset="0"/>
              <a:buChar char="•"/>
              <a:defRPr sz="2000">
                <a:solidFill>
                  <a:srgbClr val="D2D2D2"/>
                </a:solidFill>
              </a:defRPr>
            </a:pPr>
            <a:r>
              <a:rPr lang="ar-EG" b="1" i="0" dirty="0">
                <a:effectLst/>
                <a:latin typeface="gg sans"/>
              </a:rPr>
              <a:t> تركز الموظفين في أقسام حساسة </a:t>
            </a:r>
            <a:endParaRPr lang="ar-EG" b="1" dirty="0">
              <a:latin typeface="gg sans"/>
            </a:endParaRPr>
          </a:p>
          <a:p>
            <a:pPr marL="342900" indent="-342900" algn="r" rtl="1">
              <a:buFont typeface="Arial" panose="020B0604020202020204" pitchFamily="34" charset="0"/>
              <a:buChar char="•"/>
              <a:defRPr sz="2000">
                <a:solidFill>
                  <a:srgbClr val="D2D2D2"/>
                </a:solidFill>
              </a:defRPr>
            </a:pPr>
            <a:r>
              <a:rPr lang="ar-EG" b="1" i="0" dirty="0">
                <a:effectLst/>
                <a:latin typeface="gg sans"/>
              </a:rPr>
              <a:t>تفاوت المكافآت والتعويضات </a:t>
            </a:r>
            <a:endParaRPr lang="ar-EG" b="1" dirty="0">
              <a:latin typeface="gg sans"/>
            </a:endParaRPr>
          </a:p>
          <a:p>
            <a:pPr marL="342900" indent="-342900" algn="r" rtl="1">
              <a:buFont typeface="Arial" panose="020B0604020202020204" pitchFamily="34" charset="0"/>
              <a:buChar char="•"/>
              <a:defRPr sz="2000">
                <a:solidFill>
                  <a:srgbClr val="D2D2D2"/>
                </a:solidFill>
              </a:defRPr>
            </a:pPr>
            <a:r>
              <a:rPr lang="ar-EG" b="1" i="0" dirty="0">
                <a:effectLst/>
                <a:latin typeface="gg sans"/>
              </a:rPr>
              <a:t>ارتفاع متوسط الأعمار </a:t>
            </a:r>
            <a:endParaRPr lang="ar-EG" b="1" dirty="0">
              <a:latin typeface="gg sans"/>
            </a:endParaRPr>
          </a:p>
          <a:p>
            <a:pPr marL="342900" indent="-342900" algn="r" rtl="1">
              <a:buFont typeface="Arial" panose="020B0604020202020204" pitchFamily="34" charset="0"/>
              <a:buChar char="•"/>
              <a:defRPr sz="2000">
                <a:solidFill>
                  <a:srgbClr val="D2D2D2"/>
                </a:solidFill>
              </a:defRPr>
            </a:pPr>
            <a:r>
              <a:rPr lang="ar-EG" b="1" i="0" dirty="0">
                <a:effectLst/>
                <a:latin typeface="gg sans"/>
              </a:rPr>
              <a:t>الاعتماد الزائد على موظفين ذوي رواتب عالية </a:t>
            </a:r>
            <a:endParaRPr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Strategic Recommendations</a:t>
            </a:r>
          </a:p>
        </p:txBody>
      </p:sp>
      <p:sp>
        <p:nvSpPr>
          <p:cNvPr id="4" name="TextBox 3">
            <a:extLst>
              <a:ext uri="{FF2B5EF4-FFF2-40B4-BE49-F238E27FC236}">
                <a16:creationId xmlns:a16="http://schemas.microsoft.com/office/drawing/2014/main" id="{F25F35B0-A9A4-4C99-815D-E3797C0EEBE3}"/>
              </a:ext>
            </a:extLst>
          </p:cNvPr>
          <p:cNvSpPr txBox="1"/>
          <p:nvPr/>
        </p:nvSpPr>
        <p:spPr>
          <a:xfrm>
            <a:off x="1149969" y="1424110"/>
            <a:ext cx="6844061" cy="1692771"/>
          </a:xfrm>
          <a:prstGeom prst="rect">
            <a:avLst/>
          </a:prstGeom>
          <a:noFill/>
        </p:spPr>
        <p:txBody>
          <a:bodyPr wrap="square">
            <a:spAutoFit/>
          </a:bodyPr>
          <a:lstStyle/>
          <a:p>
            <a:pPr algn="ctr">
              <a:defRPr sz="2000">
                <a:solidFill>
                  <a:srgbClr val="D2D2D2"/>
                </a:solidFill>
              </a:defRPr>
            </a:pPr>
            <a:r>
              <a:rPr lang="en-US" sz="2400" b="1" i="0" u="sng" dirty="0">
                <a:effectLst/>
                <a:latin typeface="gg sans"/>
              </a:rPr>
              <a:t>Strategic Recommendations </a:t>
            </a:r>
            <a:endParaRPr lang="ar-EG" sz="2400" b="1" i="0" u="sng" dirty="0">
              <a:effectLst/>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Targeted retention strategies for high-risk areas</a:t>
            </a:r>
            <a:endParaRPr lang="ar-EG" b="1" dirty="0">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Clear bonus and compensation governance </a:t>
            </a:r>
            <a:endParaRPr lang="ar-EG" b="1" dirty="0">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Succession and workforce planning initiatives </a:t>
            </a:r>
            <a:endParaRPr lang="ar-EG" b="1" dirty="0">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Performance-aligned compensation review</a:t>
            </a:r>
            <a:endParaRPr b="1" dirty="0"/>
          </a:p>
        </p:txBody>
      </p:sp>
      <p:sp>
        <p:nvSpPr>
          <p:cNvPr id="5" name="TextBox 4">
            <a:extLst>
              <a:ext uri="{FF2B5EF4-FFF2-40B4-BE49-F238E27FC236}">
                <a16:creationId xmlns:a16="http://schemas.microsoft.com/office/drawing/2014/main" id="{955B40C3-C6F0-4C16-BDE6-6375962546F9}"/>
              </a:ext>
            </a:extLst>
          </p:cNvPr>
          <p:cNvSpPr txBox="1"/>
          <p:nvPr/>
        </p:nvSpPr>
        <p:spPr>
          <a:xfrm>
            <a:off x="1149969" y="3741120"/>
            <a:ext cx="6844061" cy="1692771"/>
          </a:xfrm>
          <a:prstGeom prst="rect">
            <a:avLst/>
          </a:prstGeom>
          <a:noFill/>
        </p:spPr>
        <p:txBody>
          <a:bodyPr wrap="square">
            <a:spAutoFit/>
          </a:bodyPr>
          <a:lstStyle/>
          <a:p>
            <a:pPr algn="ctr" rtl="1">
              <a:defRPr sz="2000">
                <a:solidFill>
                  <a:srgbClr val="D2D2D2"/>
                </a:solidFill>
              </a:defRPr>
            </a:pPr>
            <a:r>
              <a:rPr lang="ar-EG" sz="2400" b="1" i="0" u="sng" dirty="0">
                <a:effectLst/>
                <a:latin typeface="gg sans"/>
              </a:rPr>
              <a:t>التوصيات الاستراتيجية</a:t>
            </a:r>
          </a:p>
          <a:p>
            <a:pPr marL="342900" indent="-342900" algn="r" rtl="1">
              <a:buFont typeface="Arial" panose="020B0604020202020204" pitchFamily="34" charset="0"/>
              <a:buChar char="•"/>
              <a:defRPr sz="2000">
                <a:solidFill>
                  <a:srgbClr val="D2D2D2"/>
                </a:solidFill>
              </a:defRPr>
            </a:pPr>
            <a:r>
              <a:rPr lang="ar-EG" b="1" i="0" dirty="0">
                <a:effectLst/>
                <a:latin typeface="gg sans"/>
              </a:rPr>
              <a:t> خطط احتفاظ موجهة للأقسام عالية المخاطر</a:t>
            </a:r>
          </a:p>
          <a:p>
            <a:pPr marL="342900" indent="-342900" algn="r" rtl="1">
              <a:buFont typeface="Arial" panose="020B0604020202020204" pitchFamily="34" charset="0"/>
              <a:buChar char="•"/>
              <a:defRPr sz="2000">
                <a:solidFill>
                  <a:srgbClr val="D2D2D2"/>
                </a:solidFill>
              </a:defRPr>
            </a:pPr>
            <a:r>
              <a:rPr lang="ar-EG" b="1" i="0" dirty="0">
                <a:effectLst/>
                <a:latin typeface="gg sans"/>
              </a:rPr>
              <a:t>إطار واضح لإدارة المكافآت </a:t>
            </a:r>
          </a:p>
          <a:p>
            <a:pPr marL="342900" indent="-342900" algn="r" rtl="1">
              <a:buFont typeface="Arial" panose="020B0604020202020204" pitchFamily="34" charset="0"/>
              <a:buChar char="•"/>
              <a:defRPr sz="2000">
                <a:solidFill>
                  <a:srgbClr val="D2D2D2"/>
                </a:solidFill>
              </a:defRPr>
            </a:pPr>
            <a:r>
              <a:rPr lang="ar-EG" b="1" i="0" dirty="0">
                <a:effectLst/>
                <a:latin typeface="gg sans"/>
              </a:rPr>
              <a:t>خطط إحلال وظيفي ونقل معرفة </a:t>
            </a:r>
          </a:p>
          <a:p>
            <a:pPr marL="342900" indent="-342900" algn="r" rtl="1">
              <a:buFont typeface="Arial" panose="020B0604020202020204" pitchFamily="34" charset="0"/>
              <a:buChar char="•"/>
              <a:defRPr sz="2000">
                <a:solidFill>
                  <a:srgbClr val="D2D2D2"/>
                </a:solidFill>
              </a:defRPr>
            </a:pPr>
            <a:r>
              <a:rPr lang="ar-EG" b="1" i="0" dirty="0">
                <a:effectLst/>
                <a:latin typeface="gg sans"/>
              </a:rPr>
              <a:t>مراجعة هيكل الرواتب وربطه بالأداء </a:t>
            </a:r>
            <a:endParaRPr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0E3C"/>
        </a:solidFill>
        <a:effectLst/>
      </p:bgPr>
    </p:bg>
    <p:spTree>
      <p:nvGrpSpPr>
        <p:cNvPr id="1" name=""/>
        <p:cNvGrpSpPr/>
        <p:nvPr/>
      </p:nvGrpSpPr>
      <p:grpSpPr>
        <a:xfrm>
          <a:off x="0" y="0"/>
          <a:ext cx="0" cy="0"/>
          <a:chOff x="0" y="0"/>
          <a:chExt cx="0" cy="0"/>
        </a:xfrm>
      </p:grpSpPr>
      <p:sp>
        <p:nvSpPr>
          <p:cNvPr id="2" name="TextBox 1"/>
          <p:cNvSpPr txBox="1"/>
          <p:nvPr/>
        </p:nvSpPr>
        <p:spPr>
          <a:xfrm>
            <a:off x="0" y="274320"/>
            <a:ext cx="9144000" cy="523220"/>
          </a:xfrm>
          <a:prstGeom prst="rect">
            <a:avLst/>
          </a:prstGeom>
          <a:noFill/>
        </p:spPr>
        <p:txBody>
          <a:bodyPr wrap="square">
            <a:spAutoFit/>
          </a:bodyPr>
          <a:lstStyle/>
          <a:p>
            <a:pPr algn="ctr">
              <a:defRPr sz="2800" b="1">
                <a:solidFill>
                  <a:srgbClr val="FFFFFF"/>
                </a:solidFill>
              </a:defRPr>
            </a:pPr>
            <a:r>
              <a:rPr dirty="0"/>
              <a:t>Next Steps</a:t>
            </a:r>
          </a:p>
        </p:txBody>
      </p:sp>
      <p:sp>
        <p:nvSpPr>
          <p:cNvPr id="8" name="TextBox 7">
            <a:extLst>
              <a:ext uri="{FF2B5EF4-FFF2-40B4-BE49-F238E27FC236}">
                <a16:creationId xmlns:a16="http://schemas.microsoft.com/office/drawing/2014/main" id="{79598BE3-CB80-436B-AAC6-6B6665862C76}"/>
              </a:ext>
            </a:extLst>
          </p:cNvPr>
          <p:cNvSpPr txBox="1"/>
          <p:nvPr/>
        </p:nvSpPr>
        <p:spPr>
          <a:xfrm>
            <a:off x="1149969" y="1361699"/>
            <a:ext cx="6844061" cy="1384995"/>
          </a:xfrm>
          <a:prstGeom prst="rect">
            <a:avLst/>
          </a:prstGeom>
          <a:noFill/>
        </p:spPr>
        <p:txBody>
          <a:bodyPr wrap="square">
            <a:spAutoFit/>
          </a:bodyPr>
          <a:lstStyle/>
          <a:p>
            <a:pPr algn="ctr">
              <a:defRPr sz="2000">
                <a:solidFill>
                  <a:srgbClr val="D2D2D2"/>
                </a:solidFill>
              </a:defRPr>
            </a:pPr>
            <a:r>
              <a:rPr lang="en-US" sz="2400" b="1" i="0" u="sng" dirty="0">
                <a:effectLst/>
                <a:latin typeface="gg sans"/>
              </a:rPr>
              <a:t>Next Steps</a:t>
            </a:r>
            <a:endParaRPr lang="ar-EG" sz="2400" b="1" u="sng" dirty="0">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Deeper drill-down analysis using Power BI</a:t>
            </a:r>
            <a:endParaRPr lang="ar-EG" b="1" dirty="0">
              <a:latin typeface="gg sans"/>
            </a:endParaRPr>
          </a:p>
          <a:p>
            <a:pPr marL="342900" indent="-342900">
              <a:buFont typeface="Arial" panose="020B0604020202020204" pitchFamily="34" charset="0"/>
              <a:buChar char="•"/>
              <a:defRPr sz="2000">
                <a:solidFill>
                  <a:srgbClr val="D2D2D2"/>
                </a:solidFill>
              </a:defRPr>
            </a:pPr>
            <a:r>
              <a:rPr lang="en-US" b="1" i="0" dirty="0">
                <a:effectLst/>
                <a:latin typeface="gg sans"/>
              </a:rPr>
              <a:t>Quarterly KPI review</a:t>
            </a:r>
            <a:r>
              <a:rPr lang="en-US" b="1" dirty="0">
                <a:latin typeface="gg sans"/>
              </a:rPr>
              <a:t>s</a:t>
            </a:r>
            <a:r>
              <a:rPr lang="en-US" b="1" i="0" dirty="0">
                <a:effectLst/>
                <a:latin typeface="gg sans"/>
              </a:rPr>
              <a:t> </a:t>
            </a:r>
          </a:p>
          <a:p>
            <a:pPr marL="342900" indent="-342900">
              <a:buFont typeface="Arial" panose="020B0604020202020204" pitchFamily="34" charset="0"/>
              <a:buChar char="•"/>
              <a:defRPr sz="2000">
                <a:solidFill>
                  <a:srgbClr val="D2D2D2"/>
                </a:solidFill>
              </a:defRPr>
            </a:pPr>
            <a:r>
              <a:rPr lang="en-US" b="1" i="0" dirty="0">
                <a:effectLst/>
                <a:latin typeface="gg sans"/>
              </a:rPr>
              <a:t>Department-level tracking of action plans</a:t>
            </a:r>
            <a:endParaRPr b="1" dirty="0"/>
          </a:p>
        </p:txBody>
      </p:sp>
      <p:sp>
        <p:nvSpPr>
          <p:cNvPr id="9" name="TextBox 8">
            <a:extLst>
              <a:ext uri="{FF2B5EF4-FFF2-40B4-BE49-F238E27FC236}">
                <a16:creationId xmlns:a16="http://schemas.microsoft.com/office/drawing/2014/main" id="{1C6EFE25-9DBB-4B3F-A359-F4C0316A44C0}"/>
              </a:ext>
            </a:extLst>
          </p:cNvPr>
          <p:cNvSpPr txBox="1"/>
          <p:nvPr/>
        </p:nvSpPr>
        <p:spPr>
          <a:xfrm>
            <a:off x="1149969" y="3593079"/>
            <a:ext cx="6844061" cy="1692771"/>
          </a:xfrm>
          <a:prstGeom prst="rect">
            <a:avLst/>
          </a:prstGeom>
          <a:noFill/>
        </p:spPr>
        <p:txBody>
          <a:bodyPr wrap="square">
            <a:spAutoFit/>
          </a:bodyPr>
          <a:lstStyle/>
          <a:p>
            <a:pPr algn="ctr" rtl="1">
              <a:defRPr sz="2000">
                <a:solidFill>
                  <a:srgbClr val="D2D2D2"/>
                </a:solidFill>
              </a:defRPr>
            </a:pPr>
            <a:r>
              <a:rPr lang="ar-EG" sz="2400" b="1" i="0" u="sng" dirty="0">
                <a:effectLst/>
                <a:latin typeface="gg sans"/>
              </a:rPr>
              <a:t>الخطوات القادمة</a:t>
            </a:r>
            <a:endParaRPr lang="ar-EG" sz="2400" b="1" u="sng" dirty="0">
              <a:latin typeface="gg sans"/>
            </a:endParaRPr>
          </a:p>
          <a:p>
            <a:pPr marL="342900" indent="-342900" algn="r" rtl="1">
              <a:buFont typeface="Arial" panose="020B0604020202020204" pitchFamily="34" charset="0"/>
              <a:buChar char="•"/>
              <a:defRPr sz="2000">
                <a:solidFill>
                  <a:srgbClr val="D2D2D2"/>
                </a:solidFill>
              </a:defRPr>
            </a:pPr>
            <a:r>
              <a:rPr lang="ar-EG" b="1" i="0" dirty="0">
                <a:effectLst/>
                <a:latin typeface="gg sans"/>
              </a:rPr>
              <a:t> تعميق التحليل باستخدام </a:t>
            </a:r>
            <a:r>
              <a:rPr lang="en-US" b="1" i="0" dirty="0">
                <a:effectLst/>
                <a:latin typeface="gg sans"/>
              </a:rPr>
              <a:t>Power BI</a:t>
            </a:r>
            <a:endParaRPr lang="ar-EG" b="1" dirty="0">
              <a:latin typeface="gg sans"/>
            </a:endParaRPr>
          </a:p>
          <a:p>
            <a:pPr marL="342900" indent="-342900" algn="r" rtl="1">
              <a:buFont typeface="Arial" panose="020B0604020202020204" pitchFamily="34" charset="0"/>
              <a:buChar char="•"/>
              <a:defRPr sz="2000">
                <a:solidFill>
                  <a:srgbClr val="D2D2D2"/>
                </a:solidFill>
              </a:defRPr>
            </a:pPr>
            <a:r>
              <a:rPr lang="ar-EG" b="1" i="0" dirty="0">
                <a:effectLst/>
                <a:latin typeface="gg sans"/>
              </a:rPr>
              <a:t>مراجعة ربع سنوية للمؤشرات </a:t>
            </a:r>
          </a:p>
          <a:p>
            <a:pPr marL="342900" indent="-342900" algn="r" rtl="1">
              <a:buFont typeface="Arial" panose="020B0604020202020204" pitchFamily="34" charset="0"/>
              <a:buChar char="•"/>
              <a:defRPr sz="2000">
                <a:solidFill>
                  <a:srgbClr val="D2D2D2"/>
                </a:solidFill>
              </a:defRPr>
            </a:pPr>
            <a:r>
              <a:rPr lang="ar-EG" b="1" i="0" dirty="0">
                <a:effectLst/>
                <a:latin typeface="gg sans"/>
              </a:rPr>
              <a:t>متابعة تنفيذ التوصيات حسب كل قسم </a:t>
            </a:r>
            <a:br>
              <a:rPr lang="ar-EG" b="1" dirty="0"/>
            </a:br>
            <a:endParaRPr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TotalTime>
  <Words>831</Words>
  <Application>Microsoft Office PowerPoint</Application>
  <PresentationFormat>On-screen Show (4:3)</PresentationFormat>
  <Paragraphs>67</Paragraphs>
  <Slides>14</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gg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abdulrahmansalem</cp:lastModifiedBy>
  <cp:revision>7</cp:revision>
  <dcterms:created xsi:type="dcterms:W3CDTF">2013-01-27T09:14:16Z</dcterms:created>
  <dcterms:modified xsi:type="dcterms:W3CDTF">2026-01-03T21:57:48Z</dcterms:modified>
  <cp:category/>
</cp:coreProperties>
</file>